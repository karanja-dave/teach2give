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42" r:id="rId1"/>
  </p:sldMasterIdLst>
  <p:notesMasterIdLst>
    <p:notesMasterId r:id="rId12"/>
  </p:notesMasterIdLst>
  <p:sldIdLst>
    <p:sldId id="256" r:id="rId2"/>
    <p:sldId id="257" r:id="rId3"/>
    <p:sldId id="258" r:id="rId4"/>
    <p:sldId id="261" r:id="rId5"/>
    <p:sldId id="267" r:id="rId6"/>
    <p:sldId id="263" r:id="rId7"/>
    <p:sldId id="266" r:id="rId8"/>
    <p:sldId id="262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44" autoAdjust="0"/>
    <p:restoredTop sz="83714" autoAdjust="0"/>
  </p:normalViewPr>
  <p:slideViewPr>
    <p:cSldViewPr snapToGrid="0">
      <p:cViewPr varScale="1">
        <p:scale>
          <a:sx n="49" d="100"/>
          <a:sy n="49" d="100"/>
        </p:scale>
        <p:origin x="1336" y="52"/>
      </p:cViewPr>
      <p:guideLst/>
    </p:cSldViewPr>
  </p:slideViewPr>
  <p:notesTextViewPr>
    <p:cViewPr>
      <p:scale>
        <a:sx n="1" d="1"/>
        <a:sy n="1" d="1"/>
      </p:scale>
      <p:origin x="0" y="-184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CC3D69-5B25-4B2B-A727-C028782A3FFD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FC95C8E-000C-4022-8BC6-37C67D3F88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49842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C95C8E-000C-4022-8BC6-37C67D3F889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58623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this case think of a transaction as a ‘safe box’:</a:t>
            </a:r>
          </a:p>
          <a:p>
            <a:r>
              <a:rPr lang="en-US" b="1" dirty="0"/>
              <a:t>BEGIN TRANSACTION</a:t>
            </a:r>
            <a:r>
              <a:rPr lang="en-US" dirty="0"/>
              <a:t> opens the box.</a:t>
            </a:r>
          </a:p>
          <a:p>
            <a:r>
              <a:rPr lang="en-US" dirty="0"/>
              <a:t>You make changes like updating balances.</a:t>
            </a:r>
          </a:p>
          <a:p>
            <a:r>
              <a:rPr lang="en-US" b="1" dirty="0"/>
              <a:t>COMMIT</a:t>
            </a:r>
            <a:r>
              <a:rPr lang="en-US" dirty="0"/>
              <a:t> closes the box and saves everything.</a:t>
            </a:r>
          </a:p>
          <a:p>
            <a:r>
              <a:rPr lang="en-US" b="1" dirty="0"/>
              <a:t>ROLLBACK</a:t>
            </a:r>
            <a:r>
              <a:rPr lang="en-US" dirty="0"/>
              <a:t> throws everything out if something goes wrong.</a:t>
            </a:r>
          </a:p>
          <a:p>
            <a:r>
              <a:rPr lang="en-US" b="1" dirty="0"/>
              <a:t>TRY…CATCH</a:t>
            </a:r>
            <a:r>
              <a:rPr lang="en-US" dirty="0"/>
              <a:t> helps catch errors so the database stays correct and nothing is lost.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C95C8E-000C-4022-8BC6-37C67D3F889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7754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BEGIN TRANSACTION starts a safe block, COMMIT saves changes, ROLLBACK undoes them if an error occurs, and TRY…CATCH ensures errors are handled so all changes succeed together or none 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C95C8E-000C-4022-8BC6-37C67D3F889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194946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We create a database named SCHOOL, set up an Accounts table with an integer ID, a name, and a decimal balance, and add two initial accounts for Alice and Bob, which gives them starting money in the system.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C95C8E-000C-4022-8BC6-37C67D3F889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190057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this Case Bob gives Alice 200.</a:t>
            </a:r>
            <a:br>
              <a:rPr lang="en-US" dirty="0"/>
            </a:br>
            <a:r>
              <a:rPr lang="en-US" dirty="0"/>
              <a:t>And Because we </a:t>
            </a:r>
            <a:r>
              <a:rPr lang="en-US" b="1" dirty="0"/>
              <a:t>commit</a:t>
            </a:r>
            <a:r>
              <a:rPr lang="en-US" dirty="0"/>
              <a:t>, the new balances are permanently saved: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C95C8E-000C-4022-8BC6-37C67D3F889C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68909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2B16B2-C33B-C049-8614-BEEF4737E7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297F3DB-9084-3022-5984-9FF92E9608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6F6F6CB-215D-D409-A9C5-322379FC2B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RAISERROR</a:t>
            </a:r>
            <a:r>
              <a:rPr lang="en-US" dirty="0"/>
              <a:t> = “Display an error message.”</a:t>
            </a:r>
          </a:p>
          <a:p>
            <a:r>
              <a:rPr lang="en-US" b="1" dirty="0"/>
              <a:t>@ErrorMessage</a:t>
            </a:r>
            <a:r>
              <a:rPr lang="en-US" dirty="0"/>
              <a:t> = the actual error text that happened in the TRY block.</a:t>
            </a:r>
          </a:p>
          <a:p>
            <a:r>
              <a:rPr lang="en-US" b="1" dirty="0"/>
              <a:t>16</a:t>
            </a:r>
            <a:r>
              <a:rPr lang="en-US" dirty="0"/>
              <a:t> = tells SQL Server it’s a normal error (not super serious).</a:t>
            </a:r>
          </a:p>
          <a:p>
            <a:r>
              <a:rPr lang="en-US" b="1" dirty="0"/>
              <a:t>1</a:t>
            </a:r>
            <a:r>
              <a:rPr lang="en-US" dirty="0"/>
              <a:t> = just a number for tracking where the error happened.</a:t>
            </a:r>
          </a:p>
          <a:p>
            <a:r>
              <a:rPr lang="en-US" b="1" dirty="0"/>
              <a:t>In short:</a:t>
            </a:r>
            <a:r>
              <a:rPr lang="en-US" dirty="0"/>
              <a:t> It makes SQL Server </a:t>
            </a:r>
            <a:r>
              <a:rPr lang="en-US" b="1" dirty="0"/>
              <a:t>tell you what went wrong</a:t>
            </a:r>
            <a:r>
              <a:rPr lang="en-US" dirty="0"/>
              <a:t> when something fails inside the transaction.</a:t>
            </a:r>
          </a:p>
          <a:p>
            <a:r>
              <a:rPr lang="en-US" dirty="0"/>
              <a:t>Works together with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ROLLBACK</a:t>
            </a:r>
            <a:r>
              <a:rPr lang="en-US" dirty="0"/>
              <a:t> → undo changes and show the error.</a:t>
            </a:r>
          </a:p>
          <a:p>
            <a:br>
              <a:rPr lang="en-US" dirty="0"/>
            </a:br>
            <a:r>
              <a:rPr lang="en-US" dirty="0"/>
              <a:t>If everything succeeds → </a:t>
            </a:r>
            <a:r>
              <a:rPr lang="en-US" b="1" dirty="0"/>
              <a:t>COMMIT</a:t>
            </a:r>
            <a:r>
              <a:rPr lang="en-US" dirty="0"/>
              <a:t> (changes saved).</a:t>
            </a:r>
          </a:p>
          <a:p>
            <a:r>
              <a:rPr lang="en-US" dirty="0"/>
              <a:t>If something fails → </a:t>
            </a:r>
            <a:r>
              <a:rPr lang="en-US" b="1" dirty="0"/>
              <a:t>ROLLBACK</a:t>
            </a:r>
            <a:r>
              <a:rPr lang="en-US" dirty="0"/>
              <a:t> (undo all changes, nothing saved).</a:t>
            </a:r>
          </a:p>
          <a:p>
            <a:r>
              <a:rPr lang="en-US" dirty="0"/>
              <a:t>For example: If the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6930700.00</a:t>
            </a:r>
            <a:r>
              <a:rPr lang="en-US" dirty="0"/>
              <a:t> overflows or violates rules → rollback will undo </a:t>
            </a:r>
            <a:r>
              <a:rPr lang="en-US" b="1" dirty="0"/>
              <a:t>all updates</a:t>
            </a:r>
            <a:r>
              <a:rPr lang="en-US" dirty="0"/>
              <a:t>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25A55E-45A2-455F-BE74-2CBDBD7189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C95C8E-000C-4022-8BC6-37C67D3F889C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123634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B7856B-33CB-20E2-22EE-A13AE79396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A6AC8F6-30C0-58F7-7A70-ACAB2E2173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47D6059-5FB0-673E-9C36-07ACB698FD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Think of a transaction like moving money between two wallets:</a:t>
            </a:r>
          </a:p>
          <a:p>
            <a:r>
              <a:rPr lang="en-US" b="1" dirty="0"/>
              <a:t>Begin</a:t>
            </a:r>
            <a:r>
              <a:rPr lang="en-US" dirty="0"/>
              <a:t> = Take both wallets in your hands.</a:t>
            </a:r>
          </a:p>
          <a:p>
            <a:r>
              <a:rPr lang="en-US" b="1" dirty="0"/>
              <a:t>Do Updates</a:t>
            </a:r>
            <a:r>
              <a:rPr lang="en-US" dirty="0"/>
              <a:t> = Subtract from one, add to the other.</a:t>
            </a:r>
          </a:p>
          <a:p>
            <a:r>
              <a:rPr lang="en-US" b="1" dirty="0"/>
              <a:t>Commit</a:t>
            </a:r>
            <a:r>
              <a:rPr lang="en-US" dirty="0"/>
              <a:t> = Seal the deal (permanent).</a:t>
            </a:r>
          </a:p>
          <a:p>
            <a:r>
              <a:rPr lang="en-US" b="1" dirty="0"/>
              <a:t>Rollback</a:t>
            </a:r>
            <a:r>
              <a:rPr lang="en-US" dirty="0"/>
              <a:t> = Put wallets back as they were, like nothing happened.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634F60-9F5C-76BD-AD09-542DDD1B73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C95C8E-000C-4022-8BC6-37C67D3F889C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97777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F2E49F85-7975-4471-A044-AAACF63BEB72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3DE5FC18-C0DA-4D47-9C69-10FFA00F6A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73221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49F85-7975-4471-A044-AAACF63BEB72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E5FC18-C0DA-4D47-9C69-10FFA00F6A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7057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49F85-7975-4471-A044-AAACF63BEB72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E5FC18-C0DA-4D47-9C69-10FFA00F6A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07092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49F85-7975-4471-A044-AAACF63BEB72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E5FC18-C0DA-4D47-9C69-10FFA00F6A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6242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49F85-7975-4471-A044-AAACF63BEB72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E5FC18-C0DA-4D47-9C69-10FFA00F6A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20268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49F85-7975-4471-A044-AAACF63BEB72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E5FC18-C0DA-4D47-9C69-10FFA00F6A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82065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49F85-7975-4471-A044-AAACF63BEB72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E5FC18-C0DA-4D47-9C69-10FFA00F6A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69351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49F85-7975-4471-A044-AAACF63BEB72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E5FC18-C0DA-4D47-9C69-10FFA00F6A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33890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49F85-7975-4471-A044-AAACF63BEB72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E5FC18-C0DA-4D47-9C69-10FFA00F6A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24555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49F85-7975-4471-A044-AAACF63BEB72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E5FC18-C0DA-4D47-9C69-10FFA00F6A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1409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49F85-7975-4471-A044-AAACF63BEB72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E5FC18-C0DA-4D47-9C69-10FFA00F6A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167785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49F85-7975-4471-A044-AAACF63BEB72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E5FC18-C0DA-4D47-9C69-10FFA00F6A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695846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49F85-7975-4471-A044-AAACF63BEB72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E5FC18-C0DA-4D47-9C69-10FFA00F6A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181930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49F85-7975-4471-A044-AAACF63BEB72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E5FC18-C0DA-4D47-9C69-10FFA00F6A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291819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49F85-7975-4471-A044-AAACF63BEB72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E5FC18-C0DA-4D47-9C69-10FFA00F6A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059040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F2E49F85-7975-4471-A044-AAACF63BEB72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E5FC18-C0DA-4D47-9C69-10FFA00F6A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0531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F2E49F85-7975-4471-A044-AAACF63BEB72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E5FC18-C0DA-4D47-9C69-10FFA00F6A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39959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F2E49F85-7975-4471-A044-AAACF63BEB72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3DE5FC18-C0DA-4D47-9C69-10FFA00F6A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62529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3" r:id="rId1"/>
    <p:sldLayoutId id="2147483844" r:id="rId2"/>
    <p:sldLayoutId id="2147483845" r:id="rId3"/>
    <p:sldLayoutId id="2147483846" r:id="rId4"/>
    <p:sldLayoutId id="2147483847" r:id="rId5"/>
    <p:sldLayoutId id="2147483848" r:id="rId6"/>
    <p:sldLayoutId id="2147483849" r:id="rId7"/>
    <p:sldLayoutId id="2147483850" r:id="rId8"/>
    <p:sldLayoutId id="2147483851" r:id="rId9"/>
    <p:sldLayoutId id="2147483852" r:id="rId10"/>
    <p:sldLayoutId id="2147483853" r:id="rId11"/>
    <p:sldLayoutId id="2147483854" r:id="rId12"/>
    <p:sldLayoutId id="2147483855" r:id="rId13"/>
    <p:sldLayoutId id="2147483856" r:id="rId14"/>
    <p:sldLayoutId id="2147483857" r:id="rId15"/>
    <p:sldLayoutId id="2147483858" r:id="rId16"/>
    <p:sldLayoutId id="214748385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704886"/>
            <a:ext cx="8825658" cy="1507763"/>
          </a:xfr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/>
          <a:lstStyle/>
          <a:p>
            <a:r>
              <a:rPr lang="en-US" b="1" dirty="0"/>
              <a:t>SQL Server Transaction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006643" y="2991173"/>
            <a:ext cx="4501926" cy="1797804"/>
          </a:xfr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</a:rPr>
              <a:t>Begin transaction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</a:rPr>
              <a:t>Commit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</a:rPr>
              <a:t>try/catch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</a:rPr>
              <a:t>rollback</a:t>
            </a:r>
          </a:p>
        </p:txBody>
      </p:sp>
    </p:spTree>
    <p:extLst>
      <p:ext uri="{BB962C8B-B14F-4D97-AF65-F5344CB8AC3E}">
        <p14:creationId xmlns:p14="http://schemas.microsoft.com/office/powerpoint/2010/main" val="40708666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2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2198589" y="1555837"/>
            <a:ext cx="8122858" cy="51121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/>
              <a:t>A </a:t>
            </a:r>
            <a:r>
              <a:rPr lang="en-US" sz="2000" dirty="0">
                <a:solidFill>
                  <a:srgbClr val="FF0000"/>
                </a:solidFill>
              </a:rPr>
              <a:t>transaction</a:t>
            </a:r>
            <a:r>
              <a:rPr lang="en-US" sz="2000" dirty="0"/>
              <a:t> is a single unit of work that typically contains multiple T-SQL statements.</a:t>
            </a:r>
          </a:p>
          <a:p>
            <a:pPr>
              <a:lnSpc>
                <a:spcPct val="150000"/>
              </a:lnSpc>
            </a:pPr>
            <a:endParaRPr lang="en-US" sz="2000" dirty="0"/>
          </a:p>
          <a:p>
            <a:pPr>
              <a:lnSpc>
                <a:spcPct val="150000"/>
              </a:lnSpc>
            </a:pPr>
            <a:r>
              <a:rPr lang="en-US" sz="2000" dirty="0"/>
              <a:t>If a transaction is successful, the changes are committed to the database. However, if a transaction has an error, the changes have to be rolled back.</a:t>
            </a:r>
          </a:p>
          <a:p>
            <a:pPr>
              <a:lnSpc>
                <a:spcPct val="150000"/>
              </a:lnSpc>
            </a:pPr>
            <a:endParaRPr lang="en-US" sz="2000" dirty="0"/>
          </a:p>
          <a:p>
            <a:pPr>
              <a:lnSpc>
                <a:spcPct val="150000"/>
              </a:lnSpc>
            </a:pPr>
            <a:r>
              <a:rPr lang="en-US" sz="2000" dirty="0"/>
              <a:t>When executing a single statement such as INSERT, UPDATE, and DELETE, SQL Server uses the autocommit transaction. In this case, each statement is a transaction.</a:t>
            </a:r>
          </a:p>
          <a:p>
            <a:pPr>
              <a:lnSpc>
                <a:spcPct val="150000"/>
              </a:lnSpc>
            </a:pPr>
            <a:endParaRPr lang="en-US" sz="2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653E003-82FD-62A6-3D32-955B811518B9}"/>
              </a:ext>
            </a:extLst>
          </p:cNvPr>
          <p:cNvSpPr txBox="1"/>
          <p:nvPr/>
        </p:nvSpPr>
        <p:spPr>
          <a:xfrm>
            <a:off x="2041741" y="300625"/>
            <a:ext cx="8279705" cy="861774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3200" b="1" dirty="0"/>
              <a:t>Introduction to SQL server transaction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41165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13365" y="810531"/>
            <a:ext cx="10658901" cy="590931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dirty="0"/>
              <a:t>To start a transaction explicitly, you use the BEGIN TRANSACTION or BEGIN TRAN statement first:</a:t>
            </a:r>
          </a:p>
          <a:p>
            <a:endParaRPr lang="en-US" dirty="0"/>
          </a:p>
          <a:p>
            <a:r>
              <a:rPr lang="en-US" dirty="0">
                <a:solidFill>
                  <a:schemeClr val="accent1"/>
                </a:solidFill>
              </a:rPr>
              <a:t>BEGIN TRANSACTION;</a:t>
            </a:r>
          </a:p>
          <a:p>
            <a:endParaRPr lang="en-US" dirty="0"/>
          </a:p>
          <a:p>
            <a:r>
              <a:rPr lang="en-US" dirty="0"/>
              <a:t>Then, execute one or more statements including INSERT, UPDATE, and DELETE.</a:t>
            </a:r>
          </a:p>
          <a:p>
            <a:endParaRPr lang="en-US" dirty="0"/>
          </a:p>
          <a:p>
            <a:r>
              <a:rPr lang="en-US" dirty="0"/>
              <a:t>Here’s the sequence of statements for starting a transaction explicitly and committing it:</a:t>
            </a:r>
          </a:p>
          <a:p>
            <a:r>
              <a:rPr lang="en-US" dirty="0"/>
              <a:t>(-- start a transaction)</a:t>
            </a:r>
          </a:p>
          <a:p>
            <a:endParaRPr lang="en-US" dirty="0"/>
          </a:p>
          <a:p>
            <a:r>
              <a:rPr lang="en-US" dirty="0"/>
              <a:t>BEGIN TRANSACTION;</a:t>
            </a:r>
          </a:p>
          <a:p>
            <a:endParaRPr lang="en-US" dirty="0"/>
          </a:p>
          <a:p>
            <a:r>
              <a:rPr lang="en-US" dirty="0"/>
              <a:t>  -- other statements</a:t>
            </a:r>
          </a:p>
          <a:p>
            <a:endParaRPr lang="en-US" dirty="0"/>
          </a:p>
          <a:p>
            <a:r>
              <a:rPr lang="en-US" dirty="0"/>
              <a:t>  -- commit the transaction</a:t>
            </a:r>
          </a:p>
          <a:p>
            <a:r>
              <a:rPr lang="en-US" dirty="0"/>
              <a:t>Finally, commit the transaction using the COMMIT statement:</a:t>
            </a:r>
          </a:p>
          <a:p>
            <a:endParaRPr lang="en-US" dirty="0"/>
          </a:p>
          <a:p>
            <a:r>
              <a:rPr lang="en-US" dirty="0">
                <a:solidFill>
                  <a:schemeClr val="accent1"/>
                </a:solidFill>
              </a:rPr>
              <a:t>COMMIT;</a:t>
            </a:r>
          </a:p>
          <a:p>
            <a:r>
              <a:rPr lang="en-US" dirty="0"/>
              <a:t>Code language: SQL (Structured Query Language) (</a:t>
            </a:r>
            <a:r>
              <a:rPr lang="en-US" dirty="0" err="1"/>
              <a:t>sql</a:t>
            </a:r>
            <a:r>
              <a:rPr lang="en-US" dirty="0"/>
              <a:t>)</a:t>
            </a:r>
          </a:p>
          <a:p>
            <a:r>
              <a:rPr lang="en-US" dirty="0"/>
              <a:t>Or roll back the transaction using the ROLLBACK statement:</a:t>
            </a:r>
          </a:p>
          <a:p>
            <a:endParaRPr lang="en-US" dirty="0"/>
          </a:p>
          <a:p>
            <a:r>
              <a:rPr lang="en-US" dirty="0">
                <a:solidFill>
                  <a:schemeClr val="accent1"/>
                </a:solidFill>
              </a:rPr>
              <a:t>ROLLBACK;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95EB23B-9B38-29C4-4798-0E7037DE121B}"/>
              </a:ext>
            </a:extLst>
          </p:cNvPr>
          <p:cNvSpPr txBox="1"/>
          <p:nvPr/>
        </p:nvSpPr>
        <p:spPr>
          <a:xfrm>
            <a:off x="413365" y="138159"/>
            <a:ext cx="8083826" cy="461665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2400" b="1" dirty="0"/>
              <a:t>BEGIN TRANSACTION, COMMIT, ROLLBACK</a:t>
            </a:r>
          </a:p>
        </p:txBody>
      </p:sp>
    </p:spTree>
    <p:extLst>
      <p:ext uri="{BB962C8B-B14F-4D97-AF65-F5344CB8AC3E}">
        <p14:creationId xmlns:p14="http://schemas.microsoft.com/office/powerpoint/2010/main" val="23221973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11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815547" y="1300156"/>
            <a:ext cx="8216350" cy="49197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To implement a rollback in SQL Server you need two things: 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Start a transaction with: </a:t>
            </a:r>
            <a:r>
              <a:rPr lang="en-US" sz="2000" dirty="0">
                <a:solidFill>
                  <a:schemeClr val="accent1"/>
                </a:solidFill>
              </a:rPr>
              <a:t>BEGIN TRANSACTION.</a:t>
            </a:r>
          </a:p>
          <a:p>
            <a:pPr>
              <a:lnSpc>
                <a:spcPct val="200000"/>
              </a:lnSpc>
            </a:pPr>
            <a:endParaRPr lang="en-US" sz="2000" dirty="0">
              <a:solidFill>
                <a:schemeClr val="accent1"/>
              </a:solidFill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Explicitly call ROLLBACK when something goes wrong. 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Because you usually don’t know in advance whether something will fail, the common pattern is to wrap the work in a </a:t>
            </a:r>
            <a:r>
              <a:rPr lang="en-US" sz="2000" dirty="0">
                <a:solidFill>
                  <a:schemeClr val="accent1"/>
                </a:solidFill>
              </a:rPr>
              <a:t>TRY…CATCH</a:t>
            </a:r>
            <a:r>
              <a:rPr lang="en-US" sz="2000" dirty="0"/>
              <a:t> block.</a:t>
            </a:r>
          </a:p>
          <a:p>
            <a:pPr>
              <a:lnSpc>
                <a:spcPct val="200000"/>
              </a:lnSpc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6918325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5C0DC7-92A3-5DAF-C9CA-B5A605FECF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6819" y="1093897"/>
            <a:ext cx="10418362" cy="1372986"/>
          </a:xfrm>
        </p:spPr>
        <p:txBody>
          <a:bodyPr/>
          <a:lstStyle/>
          <a:p>
            <a:r>
              <a:rPr lang="en-US" b="1" dirty="0"/>
              <a:t>SQL Transactions: Commit, Rollback &amp; Error Handling</a:t>
            </a:r>
          </a:p>
        </p:txBody>
      </p:sp>
      <p:sp>
        <p:nvSpPr>
          <p:cNvPr id="4" name="Text Placeholder 3"/>
          <p:cNvSpPr>
            <a:spLocks noGrp="1" noChangeArrowheads="1"/>
          </p:cNvSpPr>
          <p:nvPr>
            <p:ph type="body" sz="half" idx="2"/>
          </p:nvPr>
        </p:nvSpPr>
        <p:spPr bwMode="auto">
          <a:xfrm>
            <a:off x="584917" y="2716915"/>
            <a:ext cx="11147299" cy="412927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Cambria" panose="02040503050406030204" pitchFamily="18" charset="0"/>
              </a:rPr>
              <a:t>Key Points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Cambria" panose="02040503050406030204" pitchFamily="18" charset="0"/>
              </a:rPr>
              <a:t>BEGIN TRANSACTION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Cambria" panose="02040503050406030204" pitchFamily="18" charset="0"/>
              </a:rPr>
              <a:t>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Cambria" panose="02040503050406030204" pitchFamily="18" charset="0"/>
              </a:rPr>
              <a:t>starts a unit of work that SQL Server treats as all-or-nothing.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Cambria" panose="02040503050406030204" pitchFamily="18" charset="0"/>
              </a:rPr>
              <a:t>COMMIT TRANSACTION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Cambria" panose="02040503050406030204" pitchFamily="18" charset="0"/>
              </a:rPr>
              <a:t> makes all changes inside the transaction permanent.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Cambria" panose="02040503050406030204" pitchFamily="18" charset="0"/>
              </a:rPr>
              <a:t>ROLLBACK TRANSACTION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Cambria" panose="02040503050406030204" pitchFamily="18" charset="0"/>
              </a:rPr>
              <a:t> undoes </a:t>
            </a:r>
            <a:r>
              <a:rPr kumimoji="0" lang="en-US" altLang="en-US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Cambria" panose="02040503050406030204" pitchFamily="18" charset="0"/>
              </a:rPr>
              <a:t>every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Cambria" panose="02040503050406030204" pitchFamily="18" charset="0"/>
              </a:rPr>
              <a:t> change since the BEGIN TRANSACTION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Cambria" panose="02040503050406030204" pitchFamily="18" charset="0"/>
              </a:rPr>
              <a:t>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Cambria" panose="020405030504060302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Cambria" panose="02040503050406030204" pitchFamily="18" charset="0"/>
              </a:rPr>
              <a:t>The TRY…CATCH block ensures that if </a:t>
            </a:r>
            <a:r>
              <a:rPr kumimoji="0" lang="en-US" altLang="en-US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Cambria" panose="02040503050406030204" pitchFamily="18" charset="0"/>
              </a:rPr>
              <a:t>any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Cambria" panose="02040503050406030204" pitchFamily="18" charset="0"/>
              </a:rPr>
              <a:t> statement inside TRY raises a runtime error (constraint violation, deadlock, etc.), control moves to CATCH and you can roll back.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38524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11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6179A38-F2FC-7372-799F-24A548DE14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17CDB1-B506-A76C-19D1-8C98A915A8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52D9EA-A246-2AA7-E98E-45ADBE5C48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929" y="2216257"/>
            <a:ext cx="6199322" cy="4432515"/>
          </a:xfrm>
        </p:spPr>
        <p:txBody>
          <a:bodyPr>
            <a:normAutofit fontScale="25000" lnSpcReduction="20000"/>
          </a:bodyPr>
          <a:lstStyle/>
          <a:p>
            <a:r>
              <a:rPr lang="en-US" sz="5500" dirty="0"/>
              <a:t>STEP 1</a:t>
            </a:r>
          </a:p>
          <a:p>
            <a:r>
              <a:rPr lang="en-US" sz="5500" dirty="0"/>
              <a:t>CREATE DATABASE SCHOOL;</a:t>
            </a:r>
          </a:p>
          <a:p>
            <a:r>
              <a:rPr lang="en-US" sz="5500" dirty="0"/>
              <a:t>USE SCHOOL;</a:t>
            </a:r>
          </a:p>
          <a:p>
            <a:endParaRPr lang="en-US" sz="5500" dirty="0"/>
          </a:p>
          <a:p>
            <a:r>
              <a:rPr lang="en-US" sz="5500" dirty="0"/>
              <a:t>CREATE TABLE Accounts (</a:t>
            </a:r>
          </a:p>
          <a:p>
            <a:r>
              <a:rPr lang="en-US" sz="5500" dirty="0"/>
              <a:t>    </a:t>
            </a:r>
            <a:r>
              <a:rPr lang="en-US" sz="5500" dirty="0" err="1"/>
              <a:t>AccountID</a:t>
            </a:r>
            <a:r>
              <a:rPr lang="en-US" sz="5500" dirty="0"/>
              <a:t> INT PRIMARY KEY,</a:t>
            </a:r>
          </a:p>
          <a:p>
            <a:r>
              <a:rPr lang="en-US" sz="5500" dirty="0"/>
              <a:t>    </a:t>
            </a:r>
            <a:r>
              <a:rPr lang="en-US" sz="5500" dirty="0" err="1"/>
              <a:t>AccountName</a:t>
            </a:r>
            <a:r>
              <a:rPr lang="en-US" sz="5500" dirty="0"/>
              <a:t> NVARCHAR(100),</a:t>
            </a:r>
          </a:p>
          <a:p>
            <a:r>
              <a:rPr lang="en-US" sz="5500" dirty="0"/>
              <a:t>    Balance DECIMAL(10,2)</a:t>
            </a:r>
          </a:p>
          <a:p>
            <a:r>
              <a:rPr lang="en-US" sz="5500" dirty="0"/>
              <a:t>);</a:t>
            </a:r>
          </a:p>
          <a:p>
            <a:endParaRPr lang="en-US" sz="5500" dirty="0"/>
          </a:p>
          <a:p>
            <a:r>
              <a:rPr lang="en-US" sz="5500" dirty="0"/>
              <a:t>INSERT INTO Accounts (</a:t>
            </a:r>
            <a:r>
              <a:rPr lang="en-US" sz="5500" dirty="0" err="1"/>
              <a:t>AccountID</a:t>
            </a:r>
            <a:r>
              <a:rPr lang="en-US" sz="5500" dirty="0"/>
              <a:t>, </a:t>
            </a:r>
            <a:r>
              <a:rPr lang="en-US" sz="5500" dirty="0" err="1"/>
              <a:t>AccountName</a:t>
            </a:r>
            <a:r>
              <a:rPr lang="en-US" sz="5500" dirty="0"/>
              <a:t>, Balance) VALUES</a:t>
            </a:r>
          </a:p>
          <a:p>
            <a:r>
              <a:rPr lang="en-US" sz="5500" dirty="0"/>
              <a:t>(1, 'Alice', 1000.00),</a:t>
            </a:r>
          </a:p>
          <a:p>
            <a:r>
              <a:rPr lang="en-US" sz="5500" dirty="0"/>
              <a:t>(2, ‘Bob,   500.00);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0E18610-31A9-2F7E-5F27-CAEDCB23E608}"/>
              </a:ext>
            </a:extLst>
          </p:cNvPr>
          <p:cNvSpPr txBox="1"/>
          <p:nvPr/>
        </p:nvSpPr>
        <p:spPr>
          <a:xfrm>
            <a:off x="7284203" y="2351314"/>
            <a:ext cx="476521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EXPECTED OUTPUT </a:t>
            </a:r>
          </a:p>
          <a:p>
            <a:endParaRPr lang="en-US" dirty="0"/>
          </a:p>
          <a:p>
            <a:r>
              <a:rPr lang="en-US" dirty="0" err="1"/>
              <a:t>AccountID</a:t>
            </a:r>
            <a:r>
              <a:rPr lang="en-US" dirty="0"/>
              <a:t> | </a:t>
            </a:r>
            <a:r>
              <a:rPr lang="en-US" dirty="0" err="1"/>
              <a:t>AccountName</a:t>
            </a:r>
            <a:r>
              <a:rPr lang="en-US" dirty="0"/>
              <a:t> | Balance</a:t>
            </a:r>
          </a:p>
          <a:p>
            <a:r>
              <a:rPr lang="en-US" dirty="0"/>
              <a:t>---------------------------------</a:t>
            </a:r>
          </a:p>
          <a:p>
            <a:r>
              <a:rPr lang="en-US" dirty="0"/>
              <a:t>1                  | Alice                  | 1000.00</a:t>
            </a:r>
          </a:p>
          <a:p>
            <a:r>
              <a:rPr lang="en-US" dirty="0"/>
              <a:t>2                  | Bob                    |  500.00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11607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F569A82-61BB-B5B1-8707-D0145985A3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552" y="739035"/>
            <a:ext cx="9441494" cy="6294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95247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953E57-78DA-9BB6-CCBD-7BC16A494F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Commit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4CD4DC-6713-86A5-A2A9-8D9F0A5634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8827" y="2293749"/>
            <a:ext cx="5637987" cy="4564250"/>
          </a:xfrm>
          <a:solidFill>
            <a:schemeClr val="accent2">
              <a:lumMod val="20000"/>
              <a:lumOff val="80000"/>
            </a:schemeClr>
          </a:solidFill>
        </p:spPr>
        <p:txBody>
          <a:bodyPr>
            <a:noAutofit/>
          </a:bodyPr>
          <a:lstStyle/>
          <a:p>
            <a:r>
              <a:rPr lang="en-US" sz="1400" dirty="0"/>
              <a:t>-- SIMPLE TRANSACTION: Move 200 from Bob to Alice</a:t>
            </a:r>
          </a:p>
          <a:p>
            <a:pPr marL="0" indent="0">
              <a:buNone/>
            </a:pPr>
            <a:r>
              <a:rPr lang="en-US" sz="1400" dirty="0"/>
              <a:t>BEGIN TRANSACTION; </a:t>
            </a:r>
          </a:p>
          <a:p>
            <a:pPr marL="0" indent="0">
              <a:buNone/>
            </a:pPr>
            <a:r>
              <a:rPr lang="en-US" sz="1400" dirty="0"/>
              <a:t>UPDATE Accounts</a:t>
            </a:r>
          </a:p>
          <a:p>
            <a:pPr marL="0" indent="0">
              <a:buNone/>
            </a:pPr>
            <a:r>
              <a:rPr lang="en-US" sz="1400" dirty="0"/>
              <a:t>SET Balance = Balance - 200.00</a:t>
            </a:r>
          </a:p>
          <a:p>
            <a:pPr marL="0" indent="0">
              <a:buNone/>
            </a:pPr>
            <a:r>
              <a:rPr lang="en-US" sz="1400" dirty="0"/>
              <a:t>WHERE </a:t>
            </a:r>
            <a:r>
              <a:rPr lang="en-US" sz="1400" dirty="0" err="1"/>
              <a:t>AccountID</a:t>
            </a:r>
            <a:r>
              <a:rPr lang="en-US" sz="1400" dirty="0"/>
              <a:t> = 2; </a:t>
            </a:r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/>
              <a:t>UPDATE Accounts</a:t>
            </a:r>
          </a:p>
          <a:p>
            <a:pPr marL="0" indent="0">
              <a:buNone/>
            </a:pPr>
            <a:r>
              <a:rPr lang="en-US" sz="1400" dirty="0"/>
              <a:t>SET Balance = Balance + 200.00</a:t>
            </a:r>
          </a:p>
          <a:p>
            <a:pPr marL="0" indent="0">
              <a:buNone/>
            </a:pPr>
            <a:r>
              <a:rPr lang="en-US" sz="1400" dirty="0"/>
              <a:t>WHERE </a:t>
            </a:r>
            <a:r>
              <a:rPr lang="en-US" sz="1400" dirty="0" err="1"/>
              <a:t>AccountID</a:t>
            </a:r>
            <a:r>
              <a:rPr lang="en-US" sz="1400" dirty="0"/>
              <a:t> = 1; </a:t>
            </a:r>
          </a:p>
          <a:p>
            <a:pPr marL="0" indent="0">
              <a:buNone/>
            </a:pPr>
            <a:r>
              <a:rPr lang="en-US" sz="1400" dirty="0"/>
              <a:t>COMMIT TRANSACTION;   </a:t>
            </a:r>
          </a:p>
          <a:p>
            <a:pPr marL="0" indent="0">
              <a:buNone/>
            </a:pPr>
            <a:r>
              <a:rPr lang="en-US" sz="1400" dirty="0"/>
              <a:t>GO</a:t>
            </a:r>
          </a:p>
          <a:p>
            <a:pPr marL="0" indent="0">
              <a:buNone/>
            </a:pPr>
            <a:r>
              <a:rPr lang="en-US" sz="1400" dirty="0"/>
              <a:t>SELECT * FROM Accounts; </a:t>
            </a:r>
          </a:p>
          <a:p>
            <a:pPr marL="0" indent="0">
              <a:buNone/>
            </a:pPr>
            <a:r>
              <a:rPr lang="en-US" sz="1400" dirty="0"/>
              <a:t>GO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DD30A75-B302-3F06-5F2B-995D6B60B4B9}"/>
              </a:ext>
            </a:extLst>
          </p:cNvPr>
          <p:cNvSpPr txBox="1"/>
          <p:nvPr/>
        </p:nvSpPr>
        <p:spPr>
          <a:xfrm>
            <a:off x="6563638" y="2592888"/>
            <a:ext cx="5160724" cy="120032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OUTPUT WILL BE </a:t>
            </a:r>
          </a:p>
          <a:p>
            <a:r>
              <a:rPr lang="en-US" dirty="0"/>
              <a:t>Alice = 1200.00</a:t>
            </a:r>
          </a:p>
          <a:p>
            <a:r>
              <a:rPr lang="en-US" dirty="0"/>
              <a:t>Bob   =  300.00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34154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99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673F913-A740-C917-B951-A061E6CCC3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FA41D3-2F12-27A9-9F0D-1702A24A22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411" y="973668"/>
            <a:ext cx="11285951" cy="1200328"/>
          </a:xfrm>
        </p:spPr>
        <p:txBody>
          <a:bodyPr/>
          <a:lstStyle/>
          <a:p>
            <a:pPr algn="ctr"/>
            <a:r>
              <a:rPr lang="en-US" b="1" dirty="0"/>
              <a:t>Commit with Error Handling (TRY…CATCH)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3D7D91-0969-4291-967A-E80B96F07C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0560" y="2304789"/>
            <a:ext cx="5579929" cy="4553211"/>
          </a:xfrm>
        </p:spPr>
        <p:txBody>
          <a:bodyPr>
            <a:noAutofit/>
          </a:bodyPr>
          <a:lstStyle/>
          <a:p>
            <a:pPr marL="0" marR="0">
              <a:lnSpc>
                <a:spcPct val="70000"/>
              </a:lnSpc>
              <a:spcAft>
                <a:spcPts val="800"/>
              </a:spcAft>
              <a:buNone/>
            </a:pPr>
            <a:r>
              <a:rPr lang="en-US" sz="1200" kern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ascadia Mono" panose="020B06090200000200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BEGIN</a:t>
            </a:r>
            <a:r>
              <a:rPr lang="en-US" sz="1200" kern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ascadia Mono" panose="020B06090200000200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200" kern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ascadia Mono" panose="020B06090200000200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TRANSACTION</a:t>
            </a:r>
            <a:r>
              <a:rPr lang="en-US" sz="1200" kern="0" dirty="0">
                <a:solidFill>
                  <a:srgbClr val="808080"/>
                </a:solidFill>
                <a:effectLst/>
                <a:highlight>
                  <a:srgbClr val="FFFFFF"/>
                </a:highlight>
                <a:latin typeface="Cascadia Mono" panose="020B06090200000200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;</a:t>
            </a:r>
            <a:endParaRPr lang="en-US" sz="12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70000"/>
              </a:lnSpc>
              <a:spcAft>
                <a:spcPts val="800"/>
              </a:spcAft>
              <a:buNone/>
            </a:pPr>
            <a:r>
              <a:rPr lang="en-US" sz="1200" kern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ascadia Mono" panose="020B06090200000200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BEGIN</a:t>
            </a:r>
            <a:r>
              <a:rPr lang="en-US" sz="1200" kern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ascadia Mono" panose="020B06090200000200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200" kern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ascadia Mono" panose="020B06090200000200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TRY</a:t>
            </a:r>
            <a:endParaRPr lang="en-US" sz="12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70000"/>
              </a:lnSpc>
              <a:spcAft>
                <a:spcPts val="800"/>
              </a:spcAft>
              <a:buNone/>
            </a:pPr>
            <a:r>
              <a:rPr lang="en-US" sz="1200" kern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ascadia Mono" panose="020B06090200000200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</a:t>
            </a:r>
            <a:r>
              <a:rPr lang="en-US" sz="1200" kern="0" dirty="0">
                <a:solidFill>
                  <a:srgbClr val="FF00FF"/>
                </a:solidFill>
                <a:effectLst/>
                <a:highlight>
                  <a:srgbClr val="FFFFFF"/>
                </a:highlight>
                <a:latin typeface="Cascadia Mono" panose="020B06090200000200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UPDATE</a:t>
            </a:r>
            <a:r>
              <a:rPr lang="en-US" sz="1200" kern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ascadia Mono" panose="020B06090200000200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Accounts</a:t>
            </a:r>
            <a:endParaRPr lang="en-US" sz="12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70000"/>
              </a:lnSpc>
              <a:spcAft>
                <a:spcPts val="800"/>
              </a:spcAft>
              <a:buNone/>
            </a:pPr>
            <a:r>
              <a:rPr lang="en-US" sz="1200" kern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ascadia Mono" panose="020B06090200000200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</a:t>
            </a:r>
            <a:r>
              <a:rPr lang="en-US" sz="1200" kern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ascadia Mono" panose="020B06090200000200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SET</a:t>
            </a:r>
            <a:r>
              <a:rPr lang="en-US" sz="1200" kern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ascadia Mono" panose="020B06090200000200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Balance </a:t>
            </a:r>
            <a:r>
              <a:rPr lang="en-US" sz="1200" kern="0" dirty="0">
                <a:solidFill>
                  <a:srgbClr val="808080"/>
                </a:solidFill>
                <a:effectLst/>
                <a:highlight>
                  <a:srgbClr val="FFFFFF"/>
                </a:highlight>
                <a:latin typeface="Cascadia Mono" panose="020B06090200000200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=</a:t>
            </a:r>
            <a:r>
              <a:rPr lang="en-US" sz="1200" kern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ascadia Mono" panose="020B06090200000200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Balance </a:t>
            </a:r>
            <a:r>
              <a:rPr lang="en-US" sz="1200" kern="0" dirty="0">
                <a:solidFill>
                  <a:srgbClr val="808080"/>
                </a:solidFill>
                <a:effectLst/>
                <a:highlight>
                  <a:srgbClr val="FFFFFF"/>
                </a:highlight>
                <a:latin typeface="Cascadia Mono" panose="020B06090200000200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+</a:t>
            </a:r>
            <a:r>
              <a:rPr lang="en-US" sz="1200" kern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ascadia Mono" panose="020B06090200000200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6930700.00</a:t>
            </a:r>
            <a:endParaRPr lang="en-US" sz="12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70000"/>
              </a:lnSpc>
              <a:spcAft>
                <a:spcPts val="800"/>
              </a:spcAft>
              <a:buNone/>
            </a:pPr>
            <a:r>
              <a:rPr lang="en-US" sz="1200" kern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ascadia Mono" panose="020B06090200000200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</a:t>
            </a:r>
            <a:r>
              <a:rPr lang="en-US" sz="1200" kern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ascadia Mono" panose="020B06090200000200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WHERE</a:t>
            </a:r>
            <a:r>
              <a:rPr lang="en-US" sz="1200" kern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ascadia Mono" panose="020B06090200000200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200" kern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ascadia Mono" panose="020B06090200000200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AccountID</a:t>
            </a:r>
            <a:r>
              <a:rPr lang="en-US" sz="1200" kern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ascadia Mono" panose="020B06090200000200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200" kern="0" dirty="0">
                <a:solidFill>
                  <a:srgbClr val="808080"/>
                </a:solidFill>
                <a:effectLst/>
                <a:highlight>
                  <a:srgbClr val="FFFFFF"/>
                </a:highlight>
                <a:latin typeface="Cascadia Mono" panose="020B06090200000200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=</a:t>
            </a:r>
            <a:r>
              <a:rPr lang="en-US" sz="1200" kern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ascadia Mono" panose="020B06090200000200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2</a:t>
            </a:r>
            <a:r>
              <a:rPr lang="en-US" sz="1200" kern="0" dirty="0">
                <a:solidFill>
                  <a:srgbClr val="808080"/>
                </a:solidFill>
                <a:effectLst/>
                <a:highlight>
                  <a:srgbClr val="FFFFFF"/>
                </a:highlight>
                <a:latin typeface="Cascadia Mono" panose="020B06090200000200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;</a:t>
            </a:r>
            <a:r>
              <a:rPr lang="en-US" sz="1200" kern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ascadia Mono" panose="020B06090200000200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en-US" sz="12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70000"/>
              </a:lnSpc>
              <a:spcAft>
                <a:spcPts val="800"/>
              </a:spcAft>
              <a:buNone/>
            </a:pPr>
            <a:r>
              <a:rPr lang="en-US" sz="1200" kern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ascadia Mono" panose="020B06090200000200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     </a:t>
            </a:r>
            <a:r>
              <a:rPr lang="en-US" sz="1200" kern="0" dirty="0">
                <a:solidFill>
                  <a:srgbClr val="FF00FF"/>
                </a:solidFill>
                <a:effectLst/>
                <a:highlight>
                  <a:srgbClr val="FFFFFF"/>
                </a:highlight>
                <a:latin typeface="Cascadia Mono" panose="020B06090200000200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UPDATE</a:t>
            </a:r>
            <a:r>
              <a:rPr lang="en-US" sz="1200" kern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ascadia Mono" panose="020B06090200000200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Accounts</a:t>
            </a:r>
            <a:endParaRPr lang="en-US" sz="12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70000"/>
              </a:lnSpc>
              <a:spcAft>
                <a:spcPts val="800"/>
              </a:spcAft>
              <a:buNone/>
            </a:pPr>
            <a:r>
              <a:rPr lang="en-US" sz="1200" kern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ascadia Mono" panose="020B06090200000200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</a:t>
            </a:r>
            <a:r>
              <a:rPr lang="en-US" sz="1200" kern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ascadia Mono" panose="020B06090200000200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SET</a:t>
            </a:r>
            <a:r>
              <a:rPr lang="en-US" sz="1200" kern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ascadia Mono" panose="020B06090200000200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Balance </a:t>
            </a:r>
            <a:r>
              <a:rPr lang="en-US" sz="1200" kern="0" dirty="0">
                <a:solidFill>
                  <a:srgbClr val="808080"/>
                </a:solidFill>
                <a:effectLst/>
                <a:highlight>
                  <a:srgbClr val="FFFFFF"/>
                </a:highlight>
                <a:latin typeface="Cascadia Mono" panose="020B06090200000200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=</a:t>
            </a:r>
            <a:r>
              <a:rPr lang="en-US" sz="1200" kern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ascadia Mono" panose="020B06090200000200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Balance </a:t>
            </a:r>
            <a:r>
              <a:rPr lang="en-US" sz="1200" kern="0" dirty="0">
                <a:solidFill>
                  <a:srgbClr val="808080"/>
                </a:solidFill>
                <a:effectLst/>
                <a:highlight>
                  <a:srgbClr val="FFFFFF"/>
                </a:highlight>
                <a:latin typeface="Cascadia Mono" panose="020B06090200000200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+</a:t>
            </a:r>
            <a:r>
              <a:rPr lang="en-US" sz="1200" kern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ascadia Mono" panose="020B06090200000200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400.00</a:t>
            </a:r>
            <a:endParaRPr lang="en-US" sz="12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70000"/>
              </a:lnSpc>
              <a:spcAft>
                <a:spcPts val="800"/>
              </a:spcAft>
              <a:buNone/>
            </a:pPr>
            <a:r>
              <a:rPr lang="en-US" sz="1200" kern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ascadia Mono" panose="020B06090200000200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</a:t>
            </a:r>
            <a:r>
              <a:rPr lang="en-US" sz="1200" kern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ascadia Mono" panose="020B06090200000200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WHERE</a:t>
            </a:r>
            <a:r>
              <a:rPr lang="en-US" sz="1200" kern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ascadia Mono" panose="020B06090200000200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200" kern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ascadia Mono" panose="020B06090200000200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AccountID</a:t>
            </a:r>
            <a:r>
              <a:rPr lang="en-US" sz="1200" kern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ascadia Mono" panose="020B06090200000200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200" kern="0" dirty="0">
                <a:solidFill>
                  <a:srgbClr val="808080"/>
                </a:solidFill>
                <a:effectLst/>
                <a:highlight>
                  <a:srgbClr val="FFFFFF"/>
                </a:highlight>
                <a:latin typeface="Cascadia Mono" panose="020B06090200000200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=</a:t>
            </a:r>
            <a:r>
              <a:rPr lang="en-US" sz="1200" kern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ascadia Mono" panose="020B06090200000200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1</a:t>
            </a:r>
            <a:r>
              <a:rPr lang="en-US" sz="1200" kern="0" dirty="0">
                <a:solidFill>
                  <a:srgbClr val="808080"/>
                </a:solidFill>
                <a:effectLst/>
                <a:highlight>
                  <a:srgbClr val="FFFFFF"/>
                </a:highlight>
                <a:latin typeface="Cascadia Mono" panose="020B06090200000200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;</a:t>
            </a:r>
            <a:r>
              <a:rPr lang="en-US" sz="1200" kern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ascadia Mono" panose="020B06090200000200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 </a:t>
            </a:r>
            <a:endParaRPr lang="en-US" sz="12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70000"/>
              </a:lnSpc>
              <a:spcAft>
                <a:spcPts val="800"/>
              </a:spcAft>
              <a:buNone/>
            </a:pPr>
            <a:r>
              <a:rPr lang="en-US" sz="1200" kern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ascadia Mono" panose="020B06090200000200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</a:t>
            </a:r>
            <a:r>
              <a:rPr lang="en-US" sz="1200" kern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ascadia Mono" panose="020B06090200000200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COMMIT</a:t>
            </a:r>
            <a:r>
              <a:rPr lang="en-US" sz="1200" kern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ascadia Mono" panose="020B06090200000200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200" kern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ascadia Mono" panose="020B06090200000200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TRANSACTION</a:t>
            </a:r>
            <a:r>
              <a:rPr lang="en-US" sz="1200" kern="0" dirty="0">
                <a:solidFill>
                  <a:srgbClr val="808080"/>
                </a:solidFill>
                <a:effectLst/>
                <a:highlight>
                  <a:srgbClr val="FFFFFF"/>
                </a:highlight>
                <a:latin typeface="Cascadia Mono" panose="020B06090200000200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;</a:t>
            </a:r>
            <a:r>
              <a:rPr lang="en-US" sz="1200" kern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ascadia Mono" panose="020B06090200000200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endParaRPr lang="en-US" sz="12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70000"/>
              </a:lnSpc>
              <a:spcAft>
                <a:spcPts val="800"/>
              </a:spcAft>
              <a:buNone/>
            </a:pPr>
            <a:r>
              <a:rPr lang="en-US" sz="1200" kern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ascadia Mono" panose="020B06090200000200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</a:t>
            </a:r>
            <a:r>
              <a:rPr lang="en-US" sz="1200" kern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ascadia Mono" panose="020B06090200000200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SELECT</a:t>
            </a:r>
            <a:r>
              <a:rPr lang="en-US" sz="1200" kern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ascadia Mono" panose="020B06090200000200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200" kern="0" dirty="0">
                <a:solidFill>
                  <a:srgbClr val="808080"/>
                </a:solidFill>
                <a:effectLst/>
                <a:highlight>
                  <a:srgbClr val="FFFFFF"/>
                </a:highlight>
                <a:latin typeface="Cascadia Mono" panose="020B06090200000200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*</a:t>
            </a:r>
            <a:r>
              <a:rPr lang="en-US" sz="1200" kern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ascadia Mono" panose="020B06090200000200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200" kern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ascadia Mono" panose="020B06090200000200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FROM</a:t>
            </a:r>
            <a:r>
              <a:rPr lang="en-US" sz="1200" kern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ascadia Mono" panose="020B06090200000200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Accounts</a:t>
            </a:r>
            <a:r>
              <a:rPr lang="en-US" sz="1200" kern="0" dirty="0">
                <a:solidFill>
                  <a:srgbClr val="808080"/>
                </a:solidFill>
                <a:effectLst/>
                <a:highlight>
                  <a:srgbClr val="FFFFFF"/>
                </a:highlight>
                <a:latin typeface="Cascadia Mono" panose="020B06090200000200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;</a:t>
            </a:r>
            <a:r>
              <a:rPr lang="en-US" sz="1200" kern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ascadia Mono" panose="020B06090200000200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en-US" sz="12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70000"/>
              </a:lnSpc>
              <a:spcAft>
                <a:spcPts val="800"/>
              </a:spcAft>
              <a:buNone/>
            </a:pPr>
            <a:r>
              <a:rPr lang="en-US" sz="1200" kern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ascadia Mono" panose="020B06090200000200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END</a:t>
            </a:r>
            <a:r>
              <a:rPr lang="en-US" sz="1200" kern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ascadia Mono" panose="020B06090200000200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200" kern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ascadia Mono" panose="020B06090200000200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TRY</a:t>
            </a:r>
            <a:endParaRPr lang="en-US" sz="12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70000"/>
              </a:lnSpc>
              <a:spcAft>
                <a:spcPts val="800"/>
              </a:spcAft>
              <a:buNone/>
            </a:pPr>
            <a:r>
              <a:rPr lang="en-US" sz="1200" kern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ascadia Mono" panose="020B06090200000200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BEGIN</a:t>
            </a:r>
            <a:r>
              <a:rPr lang="en-US" sz="1200" kern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ascadia Mono" panose="020B06090200000200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200" kern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ascadia Mono" panose="020B06090200000200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CATCH</a:t>
            </a:r>
            <a:endParaRPr lang="en-US" sz="12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8DA7F17-5207-A329-B859-F5C345F62DA4}"/>
              </a:ext>
            </a:extLst>
          </p:cNvPr>
          <p:cNvSpPr txBox="1"/>
          <p:nvPr/>
        </p:nvSpPr>
        <p:spPr>
          <a:xfrm>
            <a:off x="7189940" y="2304789"/>
            <a:ext cx="4809994" cy="26383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70000"/>
              </a:lnSpc>
              <a:spcAft>
                <a:spcPts val="800"/>
              </a:spcAft>
            </a:pPr>
            <a:r>
              <a:rPr lang="en-US" kern="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ROLLBACK</a:t>
            </a:r>
            <a:r>
              <a:rPr lang="en-US" kern="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kern="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TRANSACTION</a:t>
            </a:r>
            <a:r>
              <a:rPr lang="en-US" kern="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;</a:t>
            </a:r>
            <a:r>
              <a:rPr lang="en-US" kern="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kern="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-- Undo all changes if error occurs</a:t>
            </a:r>
            <a:endParaRPr lang="en-US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70000"/>
              </a:lnSpc>
              <a:spcAft>
                <a:spcPts val="800"/>
              </a:spcAft>
            </a:pPr>
            <a:r>
              <a:rPr lang="en-US" kern="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</a:t>
            </a:r>
            <a:r>
              <a:rPr lang="en-US" kern="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DECLARE</a:t>
            </a:r>
            <a:r>
              <a:rPr lang="en-US" kern="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@ErrorMessage </a:t>
            </a:r>
            <a:r>
              <a:rPr lang="en-US" kern="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NVARCHAR</a:t>
            </a:r>
            <a:r>
              <a:rPr lang="en-US" kern="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US" kern="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4000</a:t>
            </a:r>
            <a:r>
              <a:rPr lang="en-US" kern="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  <a:r>
              <a:rPr lang="en-US" kern="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kern="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=</a:t>
            </a:r>
            <a:r>
              <a:rPr lang="en-US" kern="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kern="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ERROR_MESSAGE</a:t>
            </a:r>
            <a:r>
              <a:rPr lang="en-US" kern="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();</a:t>
            </a:r>
            <a:r>
              <a:rPr lang="en-US" kern="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kern="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-- Get error message</a:t>
            </a:r>
            <a:endParaRPr lang="en-US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70000"/>
              </a:lnSpc>
              <a:spcAft>
                <a:spcPts val="800"/>
              </a:spcAft>
            </a:pPr>
            <a:r>
              <a:rPr lang="en-US" kern="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</a:t>
            </a:r>
            <a:r>
              <a:rPr lang="en-US" kern="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RAISERROR</a:t>
            </a:r>
            <a:r>
              <a:rPr lang="en-US" kern="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US" kern="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@ErrorMessage</a:t>
            </a:r>
            <a:r>
              <a:rPr lang="en-US" kern="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,</a:t>
            </a:r>
            <a:r>
              <a:rPr lang="en-US" kern="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16</a:t>
            </a:r>
            <a:r>
              <a:rPr lang="en-US" kern="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,</a:t>
            </a:r>
            <a:r>
              <a:rPr lang="en-US" kern="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1</a:t>
            </a:r>
            <a:r>
              <a:rPr lang="en-US" kern="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);</a:t>
            </a:r>
            <a:r>
              <a:rPr lang="en-US" kern="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kern="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-- Show the error</a:t>
            </a:r>
            <a:endParaRPr lang="en-US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70000"/>
              </a:lnSpc>
              <a:spcAft>
                <a:spcPts val="800"/>
              </a:spcAft>
            </a:pPr>
            <a:r>
              <a:rPr lang="en-US" kern="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END</a:t>
            </a:r>
            <a:r>
              <a:rPr lang="en-US" kern="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kern="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CATCH</a:t>
            </a:r>
            <a:r>
              <a:rPr lang="en-US" kern="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;</a:t>
            </a:r>
            <a:endParaRPr lang="en-US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70000"/>
              </a:lnSpc>
              <a:spcAft>
                <a:spcPts val="800"/>
              </a:spcAft>
            </a:pPr>
            <a:r>
              <a:rPr lang="en-US" kern="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GO</a:t>
            </a:r>
            <a:br>
              <a:rPr lang="en-US" kern="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kern="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37518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11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E8FB7A0-756B-7E69-2073-E57364A8B9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F71931-75A7-0335-03E7-47FB3D2FA0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411" y="973668"/>
            <a:ext cx="11285951" cy="1200328"/>
          </a:xfrm>
        </p:spPr>
        <p:txBody>
          <a:bodyPr/>
          <a:lstStyle/>
          <a:p>
            <a:pPr algn="ctr"/>
            <a:r>
              <a:rPr lang="en-US" b="1" dirty="0"/>
              <a:t>Rollback Scenario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743C8E-DD2A-0E5F-6F84-D48262D04E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8411" y="2401239"/>
            <a:ext cx="5083008" cy="4108537"/>
          </a:xfrm>
        </p:spPr>
        <p:txBody>
          <a:bodyPr>
            <a:normAutofit lnSpcReduction="10000"/>
          </a:bodyPr>
          <a:lstStyle/>
          <a:p>
            <a:pPr marL="0" marR="0">
              <a:lnSpc>
                <a:spcPct val="70000"/>
              </a:lnSpc>
              <a:spcAft>
                <a:spcPts val="800"/>
              </a:spcAft>
              <a:buNone/>
            </a:pPr>
            <a:r>
              <a:rPr lang="en-US" sz="1800" kern="0" dirty="0">
                <a:solidFill>
                  <a:srgbClr val="008000"/>
                </a:solidFill>
                <a:effectLst/>
                <a:highlight>
                  <a:srgbClr val="FFFFFF"/>
                </a:highlight>
                <a:latin typeface="Cascadia Mono" panose="020B06090200000200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-- FORCE ERROR TRANSACTION: insert text into number column</a:t>
            </a:r>
            <a:endParaRPr lang="en-US" sz="2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70000"/>
              </a:lnSpc>
              <a:spcAft>
                <a:spcPts val="800"/>
              </a:spcAft>
              <a:buNone/>
            </a:pPr>
            <a:r>
              <a:rPr lang="en-US" sz="1800" kern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ascadia Mono" panose="020B06090200000200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BEGIN</a:t>
            </a:r>
            <a:r>
              <a:rPr lang="en-US" sz="1800" kern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ascadia Mono" panose="020B06090200000200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ascadia Mono" panose="020B06090200000200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TRANSACTION</a:t>
            </a:r>
            <a:r>
              <a:rPr lang="en-US" sz="1800" kern="0" dirty="0">
                <a:solidFill>
                  <a:srgbClr val="808080"/>
                </a:solidFill>
                <a:effectLst/>
                <a:highlight>
                  <a:srgbClr val="FFFFFF"/>
                </a:highlight>
                <a:latin typeface="Cascadia Mono" panose="020B06090200000200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;</a:t>
            </a:r>
            <a:endParaRPr lang="en-US" sz="2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70000"/>
              </a:lnSpc>
              <a:spcAft>
                <a:spcPts val="800"/>
              </a:spcAft>
              <a:buNone/>
            </a:pPr>
            <a:r>
              <a:rPr lang="en-US" sz="1800" kern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ascadia Mono" panose="020B06090200000200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BEGIN</a:t>
            </a:r>
            <a:r>
              <a:rPr lang="en-US" sz="1800" kern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ascadia Mono" panose="020B06090200000200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ascadia Mono" panose="020B06090200000200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TRY</a:t>
            </a:r>
            <a:endParaRPr lang="en-US" sz="2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70000"/>
              </a:lnSpc>
              <a:spcAft>
                <a:spcPts val="800"/>
              </a:spcAft>
              <a:buNone/>
            </a:pPr>
            <a:r>
              <a:rPr lang="en-US" sz="1800" kern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ascadia Mono" panose="020B06090200000200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</a:t>
            </a:r>
            <a:r>
              <a:rPr lang="en-US" sz="1800" kern="0" dirty="0">
                <a:solidFill>
                  <a:srgbClr val="FF00FF"/>
                </a:solidFill>
                <a:effectLst/>
                <a:highlight>
                  <a:srgbClr val="FFFFFF"/>
                </a:highlight>
                <a:latin typeface="Cascadia Mono" panose="020B06090200000200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UPDATE</a:t>
            </a:r>
            <a:r>
              <a:rPr lang="en-US" sz="1800" kern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ascadia Mono" panose="020B06090200000200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Accounts</a:t>
            </a:r>
            <a:endParaRPr lang="en-US" sz="2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70000"/>
              </a:lnSpc>
              <a:spcAft>
                <a:spcPts val="800"/>
              </a:spcAft>
              <a:buNone/>
            </a:pPr>
            <a:r>
              <a:rPr lang="en-US" sz="1800" kern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ascadia Mono" panose="020B06090200000200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</a:t>
            </a:r>
            <a:r>
              <a:rPr lang="en-US" sz="1800" kern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ascadia Mono" panose="020B06090200000200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SET</a:t>
            </a:r>
            <a:r>
              <a:rPr lang="en-US" sz="1800" kern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ascadia Mono" panose="020B06090200000200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Balance </a:t>
            </a:r>
            <a:r>
              <a:rPr lang="en-US" sz="1800" kern="0" dirty="0">
                <a:solidFill>
                  <a:srgbClr val="808080"/>
                </a:solidFill>
                <a:effectLst/>
                <a:highlight>
                  <a:srgbClr val="FFFFFF"/>
                </a:highlight>
                <a:latin typeface="Cascadia Mono" panose="020B06090200000200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=</a:t>
            </a:r>
            <a:r>
              <a:rPr lang="en-US" sz="1800" kern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ascadia Mono" panose="020B06090200000200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Cascadia Mono" panose="020B06090200000200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'</a:t>
            </a:r>
            <a:r>
              <a:rPr lang="en-US" sz="1800" kern="0" dirty="0" err="1">
                <a:solidFill>
                  <a:srgbClr val="FF0000"/>
                </a:solidFill>
                <a:effectLst/>
                <a:highlight>
                  <a:srgbClr val="FFFFFF"/>
                </a:highlight>
                <a:latin typeface="Cascadia Mono" panose="020B06090200000200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NotANumber</a:t>
            </a:r>
            <a:r>
              <a:rPr lang="en-US" sz="1800" kern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Cascadia Mono" panose="020B06090200000200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'</a:t>
            </a:r>
            <a:r>
              <a:rPr lang="en-US" sz="1800" kern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ascadia Mono" panose="020B06090200000200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0" dirty="0">
                <a:solidFill>
                  <a:srgbClr val="008000"/>
                </a:solidFill>
                <a:effectLst/>
                <a:highlight>
                  <a:srgbClr val="FFFFFF"/>
                </a:highlight>
                <a:latin typeface="Cascadia Mono" panose="020B06090200000200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-- Will probably fail because we defined our balance integers not text</a:t>
            </a:r>
            <a:endParaRPr lang="en-US" sz="2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70000"/>
              </a:lnSpc>
              <a:spcAft>
                <a:spcPts val="800"/>
              </a:spcAft>
              <a:buNone/>
            </a:pPr>
            <a:r>
              <a:rPr lang="en-US" sz="1800" kern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ascadia Mono" panose="020B06090200000200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</a:t>
            </a:r>
            <a:r>
              <a:rPr lang="en-US" sz="1800" kern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ascadia Mono" panose="020B06090200000200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WHERE</a:t>
            </a:r>
            <a:r>
              <a:rPr lang="en-US" sz="1800" kern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ascadia Mono" panose="020B06090200000200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ascadia Mono" panose="020B06090200000200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AccountID</a:t>
            </a:r>
            <a:r>
              <a:rPr lang="en-US" sz="1800" kern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ascadia Mono" panose="020B06090200000200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0" dirty="0">
                <a:solidFill>
                  <a:srgbClr val="808080"/>
                </a:solidFill>
                <a:effectLst/>
                <a:highlight>
                  <a:srgbClr val="FFFFFF"/>
                </a:highlight>
                <a:latin typeface="Cascadia Mono" panose="020B06090200000200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=</a:t>
            </a:r>
            <a:r>
              <a:rPr lang="en-US" sz="1800" kern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ascadia Mono" panose="020B06090200000200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2</a:t>
            </a:r>
            <a:r>
              <a:rPr lang="en-US" sz="1800" kern="0" dirty="0">
                <a:solidFill>
                  <a:srgbClr val="808080"/>
                </a:solidFill>
                <a:effectLst/>
                <a:highlight>
                  <a:srgbClr val="FFFFFF"/>
                </a:highlight>
                <a:latin typeface="Cascadia Mono" panose="020B06090200000200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;</a:t>
            </a:r>
            <a:endParaRPr lang="en-US" sz="2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70000"/>
              </a:lnSpc>
              <a:spcAft>
                <a:spcPts val="800"/>
              </a:spcAft>
              <a:buNone/>
            </a:pPr>
            <a:r>
              <a:rPr lang="en-US" sz="1800" kern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ascadia Mono" panose="020B06090200000200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70000"/>
              </a:lnSpc>
              <a:spcAft>
                <a:spcPts val="800"/>
              </a:spcAft>
              <a:buNone/>
            </a:pPr>
            <a:r>
              <a:rPr lang="en-US" sz="1800" kern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ascadia Mono" panose="020B06090200000200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</a:t>
            </a:r>
            <a:r>
              <a:rPr lang="en-US" sz="1800" kern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ascadia Mono" panose="020B06090200000200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COMMIT</a:t>
            </a:r>
            <a:r>
              <a:rPr lang="en-US" sz="1800" kern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ascadia Mono" panose="020B06090200000200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ascadia Mono" panose="020B06090200000200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TRANSACTION</a:t>
            </a:r>
            <a:r>
              <a:rPr lang="en-US" sz="1800" kern="0" dirty="0">
                <a:solidFill>
                  <a:srgbClr val="808080"/>
                </a:solidFill>
                <a:effectLst/>
                <a:highlight>
                  <a:srgbClr val="FFFFFF"/>
                </a:highlight>
                <a:latin typeface="Cascadia Mono" panose="020B06090200000200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;</a:t>
            </a:r>
            <a:r>
              <a:rPr lang="en-US" sz="1800" kern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ascadia Mono" panose="020B06090200000200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</a:t>
            </a:r>
            <a:r>
              <a:rPr lang="en-US" sz="1800" kern="0" dirty="0">
                <a:solidFill>
                  <a:srgbClr val="008000"/>
                </a:solidFill>
                <a:effectLst/>
                <a:highlight>
                  <a:srgbClr val="FFFFFF"/>
                </a:highlight>
                <a:latin typeface="Cascadia Mono" panose="020B06090200000200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-- Would save if no error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F0B1FC6-830D-1F90-6E1A-7EC81DD0E5D1}"/>
              </a:ext>
            </a:extLst>
          </p:cNvPr>
          <p:cNvSpPr txBox="1"/>
          <p:nvPr/>
        </p:nvSpPr>
        <p:spPr>
          <a:xfrm>
            <a:off x="5867400" y="2030469"/>
            <a:ext cx="6324600" cy="4830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70000"/>
              </a:lnSpc>
              <a:spcAft>
                <a:spcPts val="800"/>
              </a:spcAft>
            </a:pPr>
            <a:endParaRPr lang="en-US" sz="28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70000"/>
              </a:lnSpc>
              <a:spcAft>
                <a:spcPts val="800"/>
              </a:spcAft>
            </a:pPr>
            <a:r>
              <a:rPr lang="en-US" kern="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</a:t>
            </a:r>
            <a:r>
              <a:rPr lang="en-US" kern="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SELECT</a:t>
            </a:r>
            <a:r>
              <a:rPr lang="en-US" kern="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kern="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*</a:t>
            </a:r>
            <a:r>
              <a:rPr lang="en-US" kern="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kern="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FROM</a:t>
            </a:r>
            <a:r>
              <a:rPr lang="en-US" kern="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Accounts</a:t>
            </a:r>
            <a:r>
              <a:rPr lang="en-US" kern="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;</a:t>
            </a:r>
            <a:r>
              <a:rPr lang="en-US" kern="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kern="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-- (balances won't be affected because </a:t>
            </a:r>
            <a:r>
              <a:rPr lang="en-US" kern="0" dirty="0" err="1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NotANumber</a:t>
            </a:r>
            <a:r>
              <a:rPr lang="en-US" kern="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is not an integer)</a:t>
            </a:r>
            <a:endParaRPr lang="en-US" sz="28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70000"/>
              </a:lnSpc>
              <a:spcAft>
                <a:spcPts val="800"/>
              </a:spcAft>
            </a:pPr>
            <a:r>
              <a:rPr lang="en-US" kern="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END</a:t>
            </a:r>
            <a:r>
              <a:rPr lang="en-US" kern="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kern="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TRY</a:t>
            </a:r>
            <a:endParaRPr lang="en-US" sz="28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70000"/>
              </a:lnSpc>
              <a:spcAft>
                <a:spcPts val="800"/>
              </a:spcAft>
            </a:pPr>
            <a:r>
              <a:rPr lang="en-US" kern="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BEGIN</a:t>
            </a:r>
            <a:r>
              <a:rPr lang="en-US" kern="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kern="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CATCH</a:t>
            </a:r>
            <a:endParaRPr lang="en-US" sz="28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70000"/>
              </a:lnSpc>
              <a:spcAft>
                <a:spcPts val="800"/>
              </a:spcAft>
            </a:pPr>
            <a:r>
              <a:rPr lang="en-US" kern="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</a:t>
            </a:r>
            <a:r>
              <a:rPr lang="en-US" kern="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ROLLBACK</a:t>
            </a:r>
            <a:r>
              <a:rPr lang="en-US" kern="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kern="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TRANSACTION</a:t>
            </a:r>
            <a:r>
              <a:rPr lang="en-US" kern="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;</a:t>
            </a:r>
            <a:r>
              <a:rPr lang="en-US" kern="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kern="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-- Undo changes</a:t>
            </a:r>
            <a:endParaRPr lang="en-US" sz="28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70000"/>
              </a:lnSpc>
              <a:spcAft>
                <a:spcPts val="800"/>
              </a:spcAft>
            </a:pPr>
            <a:r>
              <a:rPr lang="en-US" kern="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</a:t>
            </a:r>
            <a:r>
              <a:rPr lang="en-US" kern="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PRINT</a:t>
            </a:r>
            <a:r>
              <a:rPr lang="en-US" kern="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kern="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'Rollback occurred: '</a:t>
            </a:r>
            <a:r>
              <a:rPr lang="en-US" kern="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kern="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+</a:t>
            </a:r>
            <a:r>
              <a:rPr lang="en-US" kern="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kern="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ERROR_MESSAGE</a:t>
            </a:r>
            <a:r>
              <a:rPr lang="en-US" kern="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();</a:t>
            </a:r>
            <a:r>
              <a:rPr lang="en-US" kern="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kern="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-- Show error</a:t>
            </a:r>
            <a:endParaRPr lang="en-US" sz="28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70000"/>
              </a:lnSpc>
              <a:spcAft>
                <a:spcPts val="800"/>
              </a:spcAft>
            </a:pPr>
            <a:r>
              <a:rPr lang="en-US" kern="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END</a:t>
            </a:r>
            <a:r>
              <a:rPr lang="en-US" kern="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kern="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CATCH</a:t>
            </a:r>
            <a:r>
              <a:rPr lang="en-US" kern="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;</a:t>
            </a:r>
            <a:endParaRPr lang="en-US" sz="28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70000"/>
              </a:lnSpc>
              <a:spcAft>
                <a:spcPts val="800"/>
              </a:spcAft>
            </a:pPr>
            <a:r>
              <a:rPr lang="en-US" kern="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GO</a:t>
            </a:r>
            <a:endParaRPr lang="en-US" sz="28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70000"/>
              </a:lnSpc>
              <a:spcAft>
                <a:spcPts val="800"/>
              </a:spcAft>
            </a:pPr>
            <a:r>
              <a:rPr lang="en-US" kern="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70000"/>
              </a:lnSpc>
              <a:spcAft>
                <a:spcPts val="800"/>
              </a:spcAft>
            </a:pPr>
            <a:r>
              <a:rPr lang="en-US" kern="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-- if rollback </a:t>
            </a:r>
            <a:r>
              <a:rPr lang="en-US" kern="0" dirty="0" err="1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occured</a:t>
            </a:r>
            <a:r>
              <a:rPr lang="en-US" kern="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successfully then we expect balances from TRY/CATCH to display as the final balance on Alice and Bob's accounts</a:t>
            </a:r>
            <a:endParaRPr lang="en-US" sz="28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70000"/>
              </a:lnSpc>
              <a:spcAft>
                <a:spcPts val="800"/>
              </a:spcAft>
            </a:pPr>
            <a:r>
              <a:rPr lang="en-US" kern="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SELECT</a:t>
            </a:r>
            <a:r>
              <a:rPr lang="en-US" kern="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kern="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*</a:t>
            </a:r>
            <a:r>
              <a:rPr lang="en-US" kern="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kern="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FROM</a:t>
            </a:r>
            <a:r>
              <a:rPr lang="en-US" kern="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Accounts</a:t>
            </a:r>
            <a:r>
              <a:rPr lang="en-US" kern="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;</a:t>
            </a:r>
            <a:r>
              <a:rPr lang="en-US" kern="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kern="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-- Confirm final balances not affected</a:t>
            </a:r>
            <a:endParaRPr lang="en-US" sz="28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70000"/>
              </a:lnSpc>
              <a:spcAft>
                <a:spcPts val="800"/>
              </a:spcAft>
            </a:pPr>
            <a:r>
              <a:rPr lang="en-US" kern="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GO</a:t>
            </a:r>
            <a:endParaRPr lang="en-US" sz="28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281860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1133</TotalTime>
  <Words>1055</Words>
  <Application>Microsoft Office PowerPoint</Application>
  <PresentationFormat>Widescreen</PresentationFormat>
  <Paragraphs>150</Paragraphs>
  <Slides>10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Arial</vt:lpstr>
      <vt:lpstr>Calibri</vt:lpstr>
      <vt:lpstr>Cambria</vt:lpstr>
      <vt:lpstr>Cascadia Mono</vt:lpstr>
      <vt:lpstr>Century Gothic</vt:lpstr>
      <vt:lpstr>Wingdings 3</vt:lpstr>
      <vt:lpstr>Ion Boardroom</vt:lpstr>
      <vt:lpstr>SQL Server Transaction</vt:lpstr>
      <vt:lpstr>PowerPoint Presentation</vt:lpstr>
      <vt:lpstr>PowerPoint Presentation</vt:lpstr>
      <vt:lpstr>PowerPoint Presentation</vt:lpstr>
      <vt:lpstr>SQL Transactions: Commit, Rollback &amp; Error Handling</vt:lpstr>
      <vt:lpstr>Example</vt:lpstr>
      <vt:lpstr>PowerPoint Presentation</vt:lpstr>
      <vt:lpstr>Commit</vt:lpstr>
      <vt:lpstr>Commit with Error Handling (TRY…CATCH)</vt:lpstr>
      <vt:lpstr>Rollback Scenario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 Server Transaction</dc:title>
  <dc:creator>hp</dc:creator>
  <cp:lastModifiedBy>john gikundi</cp:lastModifiedBy>
  <cp:revision>12</cp:revision>
  <dcterms:created xsi:type="dcterms:W3CDTF">2025-09-30T12:02:35Z</dcterms:created>
  <dcterms:modified xsi:type="dcterms:W3CDTF">2025-10-02T18:06:46Z</dcterms:modified>
</cp:coreProperties>
</file>